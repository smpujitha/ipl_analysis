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547613" y="4842160"/>
            <a:ext cx="733425" cy="1905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548580" y="1351434"/>
            <a:ext cx="3356990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60" b="1" spc="-342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2025</a:t>
            </a:r>
            <a:endParaRPr lang="en-US" sz="5260" dirty="0"/>
          </a:p>
        </p:txBody>
      </p:sp>
      <p:sp>
        <p:nvSpPr>
          <p:cNvPr id="7" name="Text 5"/>
          <p:cNvSpPr/>
          <p:nvPr/>
        </p:nvSpPr>
        <p:spPr>
          <a:xfrm>
            <a:off x="548580" y="2288381"/>
            <a:ext cx="254342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48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season in signals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548580" y="2610148"/>
            <a:ext cx="3824235" cy="614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7"/>
              </a:lnSpc>
              <a:buNone/>
            </a:pPr>
            <a:r>
              <a:rPr lang="en-US" sz="119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data-led review of the title race, player</a:t>
            </a:r>
            <a:endParaRPr lang="en-US" sz="1190" dirty="0"/>
          </a:p>
          <a:p>
            <a:pPr algn="l" indent="0" marL="0">
              <a:lnSpc>
                <a:spcPts val="1687"/>
              </a:lnSpc>
              <a:buNone/>
            </a:pPr>
            <a:r>
              <a:rPr lang="en-US" sz="119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impact, and the patterns behind RCB's</a:t>
            </a:r>
            <a:endParaRPr lang="en-US" sz="1190" dirty="0"/>
          </a:p>
          <a:p>
            <a:pPr algn="l" indent="0" marL="0">
              <a:lnSpc>
                <a:spcPts val="1687"/>
              </a:lnSpc>
              <a:buNone/>
            </a:pPr>
            <a:r>
              <a:rPr lang="en-US" sz="119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breakthrough.</a:t>
            </a:r>
            <a:endParaRPr lang="en-US" sz="119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580" y="3500958"/>
            <a:ext cx="2743200" cy="71913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95020" y="1618208"/>
            <a:ext cx="3200400" cy="704850"/>
          </a:xfrm>
          <a:prstGeom prst="roundRect">
            <a:avLst>
              <a:gd name="adj" fmla="val 19459"/>
            </a:avLst>
          </a:prstGeom>
          <a:solidFill>
            <a:srgbClr val="E0E7ED"/>
          </a:solidFill>
          <a:ln/>
          <a:effectLst>
            <a:outerShdw sx="100000" sy="100000" kx="0" ky="0" algn="bl" rotWithShape="0" blurRad="102870" dist="51435" dir="5400000">
              <a:srgbClr val="000000">
                <a:alpha val="24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73169" y="1694408"/>
            <a:ext cx="65944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3600" b="1" spc="-21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132625" y="1906042"/>
            <a:ext cx="118850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30" b="1" spc="83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MAIDEN TITLE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5395020" y="2476426"/>
            <a:ext cx="3200400" cy="704850"/>
          </a:xfrm>
          <a:prstGeom prst="roundRect">
            <a:avLst>
              <a:gd name="adj" fmla="val 19459"/>
            </a:avLst>
          </a:prstGeom>
          <a:solidFill>
            <a:srgbClr val="E1EDE4"/>
          </a:solidFill>
          <a:ln/>
          <a:effectLst>
            <a:outerShdw sx="100000" sy="100000" kx="0" ky="0" algn="bl" rotWithShape="0" blurRad="102870" dist="51435" dir="5400000">
              <a:srgbClr val="000000">
                <a:alpha val="24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46246" y="2552626"/>
            <a:ext cx="776109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3600" b="1" spc="-21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125950" y="2764259"/>
            <a:ext cx="11951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30" b="1" spc="83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18-YEAR WAIT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5395020" y="3334643"/>
            <a:ext cx="3200400" cy="704850"/>
          </a:xfrm>
          <a:prstGeom prst="roundRect">
            <a:avLst>
              <a:gd name="adj" fmla="val 19459"/>
            </a:avLst>
          </a:prstGeom>
          <a:solidFill>
            <a:srgbClr val="F0E4D8"/>
          </a:solidFill>
          <a:ln/>
          <a:effectLst>
            <a:outerShdw sx="100000" sy="100000" kx="0" ky="0" algn="bl" rotWithShape="0" blurRad="102870" dist="51435" dir="5400000">
              <a:srgbClr val="000000">
                <a:alpha val="24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43634" y="3410843"/>
            <a:ext cx="787427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3600" b="1" spc="-21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070519" y="3622477"/>
            <a:ext cx="125061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30" b="1" spc="83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SIX-RUN FINAL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59316" y="4710336"/>
            <a:ext cx="23408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48580" y="836265"/>
            <a:ext cx="6035963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b="1" spc="-16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season. Three signals.</a:t>
            </a:r>
            <a:endParaRPr lang="en-US" sz="3020" dirty="0"/>
          </a:p>
        </p:txBody>
      </p:sp>
      <p:sp>
        <p:nvSpPr>
          <p:cNvPr id="7" name="Text 5"/>
          <p:cNvSpPr/>
          <p:nvPr/>
        </p:nvSpPr>
        <p:spPr>
          <a:xfrm>
            <a:off x="548580" y="1373684"/>
            <a:ext cx="73702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4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title, a pressure finish, and a batting environment that changed the shape of the season.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547650" y="1908832"/>
            <a:ext cx="2562225" cy="2209800"/>
          </a:xfrm>
          <a:prstGeom prst="roundRect">
            <a:avLst>
              <a:gd name="adj" fmla="val 6207"/>
            </a:avLst>
          </a:prstGeom>
          <a:solidFill>
            <a:srgbClr val="E0E7ED"/>
          </a:solidFill>
          <a:ln/>
          <a:effectLst>
            <a:outerShdw sx="100000" sy="100000" kx="0" ky="0" algn="bl" rotWithShape="0" blurRad="102870" dist="51435" dir="5400000">
              <a:srgbClr val="000000">
                <a:alpha val="24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180" y="2088877"/>
            <a:ext cx="65944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21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180" y="3359572"/>
            <a:ext cx="189130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 won its maiden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180" y="3535114"/>
            <a:ext cx="154363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title after 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180" y="3710657"/>
            <a:ext cx="90912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18-year wait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0850" y="1908832"/>
            <a:ext cx="2562225" cy="2209800"/>
          </a:xfrm>
          <a:prstGeom prst="roundRect">
            <a:avLst>
              <a:gd name="adj" fmla="val 6207"/>
            </a:avLst>
          </a:prstGeom>
          <a:solidFill>
            <a:srgbClr val="E1EDE4"/>
          </a:solidFill>
          <a:ln/>
          <a:effectLst>
            <a:outerShdw sx="100000" sy="100000" kx="0" ky="0" algn="bl" rotWithShape="0" blurRad="102870" dist="51435" dir="5400000">
              <a:srgbClr val="000000">
                <a:alpha val="24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380" y="2088877"/>
            <a:ext cx="776109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21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20380" y="3184029"/>
            <a:ext cx="129317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was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20380" y="3359572"/>
            <a:ext cx="192565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decided by six runs: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20380" y="3535114"/>
            <a:ext cx="163050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 190/9, PBKS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380" y="3710657"/>
            <a:ext cx="57605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184/7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4050" y="1908832"/>
            <a:ext cx="2562225" cy="2209800"/>
          </a:xfrm>
          <a:prstGeom prst="roundRect">
            <a:avLst>
              <a:gd name="adj" fmla="val 6207"/>
            </a:avLst>
          </a:prstGeom>
          <a:solidFill>
            <a:srgbClr val="F0E4D8"/>
          </a:solidFill>
          <a:ln/>
          <a:effectLst>
            <a:outerShdw sx="100000" sy="100000" kx="0" ky="0" algn="bl" rotWithShape="0" blurRad="102870" dist="51435" dir="5400000">
              <a:srgbClr val="000000">
                <a:alpha val="24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580" y="2088877"/>
            <a:ext cx="787427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21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63580" y="3008486"/>
            <a:ext cx="206253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batters passed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580" y="3184029"/>
            <a:ext cx="169328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16,000 aggregate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580" y="3359572"/>
            <a:ext cx="193164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at a 150+ strike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580" y="3535114"/>
            <a:ext cx="187650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— both firsts 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580" y="3710657"/>
            <a:ext cx="133390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IPL season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580" y="4339530"/>
            <a:ext cx="270410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IPLT20, BBC Sport, ESPNcricinfo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58423" y="4710336"/>
            <a:ext cx="23524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9511" y="1284908"/>
            <a:ext cx="3838575" cy="3190875"/>
          </a:xfrm>
          <a:prstGeom prst="roundRect">
            <a:avLst>
              <a:gd name="adj" fmla="val 5158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54305" dist="72009" dir="5400000">
              <a:srgbClr val="1A1A2E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49511" y="1284908"/>
            <a:ext cx="3838575" cy="319087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11" y="1284908"/>
            <a:ext cx="3838575" cy="3190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871" y="3866704"/>
            <a:ext cx="259952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0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final decided at the edge of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822871" y="4031233"/>
            <a:ext cx="117863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0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last over.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4846216" y="1602656"/>
            <a:ext cx="3451503" cy="481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30" b="1" spc="-172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was a</a:t>
            </a:r>
            <a:endParaRPr lang="en-US" sz="3130" dirty="0"/>
          </a:p>
        </p:txBody>
      </p:sp>
      <p:sp>
        <p:nvSpPr>
          <p:cNvPr id="12" name="Text 8"/>
          <p:cNvSpPr/>
          <p:nvPr/>
        </p:nvSpPr>
        <p:spPr>
          <a:xfrm>
            <a:off x="4846216" y="2008287"/>
            <a:ext cx="3074997" cy="481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30" b="1" spc="-172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test</a:t>
            </a:r>
            <a:endParaRPr lang="en-US" sz="3130" dirty="0"/>
          </a:p>
        </p:txBody>
      </p:sp>
      <p:sp>
        <p:nvSpPr>
          <p:cNvPr id="13" name="Shape 9"/>
          <p:cNvSpPr/>
          <p:nvPr/>
        </p:nvSpPr>
        <p:spPr>
          <a:xfrm>
            <a:off x="4846104" y="2737879"/>
            <a:ext cx="119062" cy="119062"/>
          </a:xfrm>
          <a:prstGeom prst="ellipse">
            <a:avLst/>
          </a:prstGeom>
          <a:solidFill>
            <a:srgbClr val="B24A3A"/>
          </a:solidFill>
          <a:ln/>
        </p:spPr>
      </p:sp>
      <p:sp>
        <p:nvSpPr>
          <p:cNvPr id="14" name="Text 10"/>
          <p:cNvSpPr/>
          <p:nvPr/>
        </p:nvSpPr>
        <p:spPr>
          <a:xfrm>
            <a:off x="5074741" y="2704430"/>
            <a:ext cx="3447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972"/>
              </a:spcAft>
              <a:buNone/>
            </a:pPr>
            <a:r>
              <a:rPr lang="en-US" sz="122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Challengers Bengaluru: 190/9</a:t>
            </a:r>
            <a:endParaRPr lang="en-US" sz="1220" dirty="0"/>
          </a:p>
        </p:txBody>
      </p:sp>
      <p:sp>
        <p:nvSpPr>
          <p:cNvPr id="15" name="Shape 11"/>
          <p:cNvSpPr/>
          <p:nvPr/>
        </p:nvSpPr>
        <p:spPr>
          <a:xfrm>
            <a:off x="4846104" y="3044689"/>
            <a:ext cx="119062" cy="119062"/>
          </a:xfrm>
          <a:prstGeom prst="ellipse">
            <a:avLst/>
          </a:prstGeom>
          <a:solidFill>
            <a:srgbClr val="B24A3A"/>
          </a:solidFill>
          <a:ln/>
        </p:spPr>
      </p:sp>
      <p:sp>
        <p:nvSpPr>
          <p:cNvPr id="16" name="Text 12"/>
          <p:cNvSpPr/>
          <p:nvPr/>
        </p:nvSpPr>
        <p:spPr>
          <a:xfrm>
            <a:off x="5074741" y="3011239"/>
            <a:ext cx="19450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972"/>
              </a:spcAft>
              <a:buNone/>
            </a:pPr>
            <a:r>
              <a:rPr lang="en-US" sz="122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Punjab Kings: 184/7</a:t>
            </a:r>
            <a:endParaRPr lang="en-US" sz="1220" dirty="0"/>
          </a:p>
        </p:txBody>
      </p:sp>
      <p:sp>
        <p:nvSpPr>
          <p:cNvPr id="17" name="Shape 13"/>
          <p:cNvSpPr/>
          <p:nvPr/>
        </p:nvSpPr>
        <p:spPr>
          <a:xfrm>
            <a:off x="4846104" y="3351498"/>
            <a:ext cx="119062" cy="119062"/>
          </a:xfrm>
          <a:prstGeom prst="ellipse">
            <a:avLst/>
          </a:prstGeom>
          <a:solidFill>
            <a:srgbClr val="B24A3A"/>
          </a:solidFill>
          <a:ln/>
        </p:spPr>
      </p:sp>
      <p:sp>
        <p:nvSpPr>
          <p:cNvPr id="18" name="Text 14"/>
          <p:cNvSpPr/>
          <p:nvPr/>
        </p:nvSpPr>
        <p:spPr>
          <a:xfrm>
            <a:off x="5074741" y="3318049"/>
            <a:ext cx="4318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972"/>
              </a:spcAft>
              <a:buNone/>
            </a:pPr>
            <a:r>
              <a:rPr lang="en-US" sz="122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Virat Kohli top-scored for RCB with 43 off 35</a:t>
            </a:r>
            <a:endParaRPr lang="en-US" sz="1220" dirty="0"/>
          </a:p>
        </p:txBody>
      </p:sp>
      <p:sp>
        <p:nvSpPr>
          <p:cNvPr id="19" name="Shape 15"/>
          <p:cNvSpPr/>
          <p:nvPr/>
        </p:nvSpPr>
        <p:spPr>
          <a:xfrm>
            <a:off x="4846104" y="3658307"/>
            <a:ext cx="119062" cy="119062"/>
          </a:xfrm>
          <a:prstGeom prst="ellipse">
            <a:avLst/>
          </a:prstGeom>
          <a:solidFill>
            <a:srgbClr val="B24A3A"/>
          </a:solidFill>
          <a:ln/>
        </p:spPr>
      </p:sp>
      <p:sp>
        <p:nvSpPr>
          <p:cNvPr id="20" name="Text 16"/>
          <p:cNvSpPr/>
          <p:nvPr/>
        </p:nvSpPr>
        <p:spPr>
          <a:xfrm>
            <a:off x="5074741" y="3624858"/>
            <a:ext cx="454725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972"/>
              </a:spcAft>
              <a:buNone/>
            </a:pPr>
            <a:r>
              <a:rPr lang="en-US" sz="122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Shashank Singh finished unbeaten on 61 off 30</a:t>
            </a:r>
            <a:endParaRPr lang="en-US" sz="1220" dirty="0"/>
          </a:p>
        </p:txBody>
      </p:sp>
      <p:sp>
        <p:nvSpPr>
          <p:cNvPr id="21" name="Shape 17"/>
          <p:cNvSpPr/>
          <p:nvPr/>
        </p:nvSpPr>
        <p:spPr>
          <a:xfrm>
            <a:off x="4846104" y="3965116"/>
            <a:ext cx="119062" cy="119062"/>
          </a:xfrm>
          <a:prstGeom prst="ellipse">
            <a:avLst/>
          </a:prstGeom>
          <a:solidFill>
            <a:srgbClr val="B24A3A"/>
          </a:solidFill>
          <a:ln/>
        </p:spPr>
      </p:sp>
      <p:sp>
        <p:nvSpPr>
          <p:cNvPr id="22" name="Text 18"/>
          <p:cNvSpPr/>
          <p:nvPr/>
        </p:nvSpPr>
        <p:spPr>
          <a:xfrm>
            <a:off x="5074741" y="3931667"/>
            <a:ext cx="431992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Krunal Pandya's 2/17 helped close the chase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55298" y="4710336"/>
            <a:ext cx="2393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48580" y="887685"/>
            <a:ext cx="7284564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run-scoring race had a clear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548580" y="1284015"/>
            <a:ext cx="2876007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front-runner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548580" y="1835572"/>
            <a:ext cx="519385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4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 five combined elite volume with distinct team contexts.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547688" y="2329718"/>
            <a:ext cx="8048625" cy="2466975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1046708" y="2134567"/>
            <a:ext cx="4355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22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759</a:t>
            </a:r>
            <a:endParaRPr lang="en-US" sz="12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362" y="2426196"/>
            <a:ext cx="1285875" cy="17478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3575" y="4281339"/>
            <a:ext cx="1017374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Sudharsan</a:t>
            </a:r>
            <a:endParaRPr lang="en-US" sz="830" dirty="0"/>
          </a:p>
          <a:p>
            <a:pPr algn="ctr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2500387" y="2288828"/>
            <a:ext cx="3838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22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717</a:t>
            </a:r>
            <a:endParaRPr lang="en-US" sz="122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3098" y="2579526"/>
            <a:ext cx="1285875" cy="1595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7549" y="4281339"/>
            <a:ext cx="1316973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Suryakumar Yadav</a:t>
            </a:r>
            <a:endParaRPr lang="en-US" sz="830" dirty="0"/>
          </a:p>
          <a:p>
            <a:pPr algn="ctr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</a:t>
            </a:r>
            <a:endParaRPr lang="en-US" sz="830" dirty="0"/>
          </a:p>
        </p:txBody>
      </p:sp>
      <p:sp>
        <p:nvSpPr>
          <p:cNvPr id="16" name="Text 12"/>
          <p:cNvSpPr/>
          <p:nvPr/>
        </p:nvSpPr>
        <p:spPr>
          <a:xfrm>
            <a:off x="3913436" y="2443163"/>
            <a:ext cx="43762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22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657</a:t>
            </a:r>
            <a:endParaRPr lang="en-US" sz="122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6833" y="2735275"/>
            <a:ext cx="1285875" cy="14382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85889" y="4281339"/>
            <a:ext cx="747765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Virat Kohli</a:t>
            </a:r>
            <a:endParaRPr lang="en-US" sz="830" dirty="0"/>
          </a:p>
          <a:p>
            <a:pPr algn="ctr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</a:t>
            </a:r>
            <a:endParaRPr lang="en-US" sz="830" dirty="0"/>
          </a:p>
        </p:txBody>
      </p:sp>
      <p:sp>
        <p:nvSpPr>
          <p:cNvPr id="19" name="Text 14"/>
          <p:cNvSpPr/>
          <p:nvPr/>
        </p:nvSpPr>
        <p:spPr>
          <a:xfrm>
            <a:off x="5339060" y="2494583"/>
            <a:ext cx="4586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22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650</a:t>
            </a:r>
            <a:endParaRPr lang="en-US" sz="122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0569" y="2784797"/>
            <a:ext cx="1285875" cy="13906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4337" y="4281339"/>
            <a:ext cx="938339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Shubman Gill</a:t>
            </a:r>
            <a:endParaRPr lang="en-US" sz="830" dirty="0"/>
          </a:p>
          <a:p>
            <a:pPr algn="ctr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</a:t>
            </a:r>
            <a:endParaRPr lang="en-US" sz="830" dirty="0"/>
          </a:p>
        </p:txBody>
      </p:sp>
      <p:sp>
        <p:nvSpPr>
          <p:cNvPr id="22" name="Text 16"/>
          <p:cNvSpPr/>
          <p:nvPr/>
        </p:nvSpPr>
        <p:spPr>
          <a:xfrm>
            <a:off x="6780609" y="2597423"/>
            <a:ext cx="4383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22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627</a:t>
            </a:r>
            <a:endParaRPr lang="en-US" sz="122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4305" y="2888605"/>
            <a:ext cx="1285875" cy="1285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3330" y="4281339"/>
            <a:ext cx="1047750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Mitchell Marsh</a:t>
            </a:r>
            <a:endParaRPr lang="en-US" sz="830" dirty="0"/>
          </a:p>
          <a:p>
            <a:pPr algn="ctr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LSG</a:t>
            </a:r>
            <a:endParaRPr lang="en-US" sz="830" dirty="0"/>
          </a:p>
        </p:txBody>
      </p:sp>
      <p:sp>
        <p:nvSpPr>
          <p:cNvPr id="25" name="Text 18"/>
          <p:cNvSpPr/>
          <p:nvPr/>
        </p:nvSpPr>
        <p:spPr>
          <a:xfrm>
            <a:off x="548580" y="4940498"/>
            <a:ext cx="257205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BBC Sport / IPL 2025 statistics</a:t>
            </a:r>
            <a:endParaRPr lang="en-US" sz="83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7688" y="2329718"/>
            <a:ext cx="8048625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61102" y="4710336"/>
            <a:ext cx="2317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48580" y="887685"/>
            <a:ext cx="681606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Bowling value concentrated at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548580" y="1284015"/>
            <a:ext cx="161512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548580" y="1835572"/>
            <a:ext cx="574787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4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group of wicket-takers shaped the season's defensive ceiling.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7865745" y="1349648"/>
            <a:ext cx="729675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Aft>
                <a:spcPts val="405"/>
              </a:spcAft>
              <a:buNone/>
            </a:pPr>
            <a:r>
              <a:rPr lang="en-US" sz="3600" b="1" spc="-252" kern="0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9399" y="2329718"/>
            <a:ext cx="1490663" cy="2209800"/>
          </a:xfrm>
          <a:prstGeom prst="roundRect">
            <a:avLst>
              <a:gd name="adj" fmla="val 9201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416" y="2568773"/>
            <a:ext cx="659346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F0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3170" dirty="0"/>
          </a:p>
        </p:txBody>
      </p:sp>
      <p:sp>
        <p:nvSpPr>
          <p:cNvPr id="12" name="Text 10"/>
          <p:cNvSpPr/>
          <p:nvPr/>
        </p:nvSpPr>
        <p:spPr>
          <a:xfrm>
            <a:off x="731416" y="4013597"/>
            <a:ext cx="129714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F0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Prasidh Krishna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731416" y="4214217"/>
            <a:ext cx="9471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830" dirty="0">
                <a:solidFill>
                  <a:srgbClr val="BBC0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 — wickets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187997" y="2329718"/>
            <a:ext cx="1490663" cy="2209800"/>
          </a:xfrm>
          <a:prstGeom prst="roundRect">
            <a:avLst>
              <a:gd name="adj" fmla="val 9201"/>
            </a:avLst>
          </a:prstGeom>
          <a:solidFill>
            <a:srgbClr val="E0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2370013" y="2568773"/>
            <a:ext cx="67975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3170" dirty="0"/>
          </a:p>
        </p:txBody>
      </p:sp>
      <p:sp>
        <p:nvSpPr>
          <p:cNvPr id="16" name="Text 14"/>
          <p:cNvSpPr/>
          <p:nvPr/>
        </p:nvSpPr>
        <p:spPr>
          <a:xfrm>
            <a:off x="2370013" y="4013597"/>
            <a:ext cx="103972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Noor Ahmad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2370013" y="4214217"/>
            <a:ext cx="104039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CSK — wickets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826632" y="2329718"/>
            <a:ext cx="1490663" cy="2209800"/>
          </a:xfrm>
          <a:prstGeom prst="roundRect">
            <a:avLst>
              <a:gd name="adj" fmla="val 9201"/>
            </a:avLst>
          </a:prstGeom>
          <a:solidFill>
            <a:srgbClr val="E1EDE4"/>
          </a:solidFill>
          <a:ln/>
        </p:spPr>
      </p:sp>
      <p:sp>
        <p:nvSpPr>
          <p:cNvPr id="19" name="Text 17"/>
          <p:cNvSpPr/>
          <p:nvPr/>
        </p:nvSpPr>
        <p:spPr>
          <a:xfrm>
            <a:off x="4008611" y="2568773"/>
            <a:ext cx="66137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3170" dirty="0"/>
          </a:p>
        </p:txBody>
      </p:sp>
      <p:sp>
        <p:nvSpPr>
          <p:cNvPr id="20" name="Text 18"/>
          <p:cNvSpPr/>
          <p:nvPr/>
        </p:nvSpPr>
        <p:spPr>
          <a:xfrm>
            <a:off x="4008611" y="4013597"/>
            <a:ext cx="91754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Trent Boult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4008611" y="4214217"/>
            <a:ext cx="9212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 — wickets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465266" y="2329718"/>
            <a:ext cx="1490663" cy="2209800"/>
          </a:xfrm>
          <a:prstGeom prst="roundRect">
            <a:avLst>
              <a:gd name="adj" fmla="val 9201"/>
            </a:avLst>
          </a:prstGeom>
          <a:solidFill>
            <a:srgbClr val="F0E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647283" y="2568773"/>
            <a:ext cx="66137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3170" dirty="0"/>
          </a:p>
        </p:txBody>
      </p:sp>
      <p:sp>
        <p:nvSpPr>
          <p:cNvPr id="24" name="Text 22"/>
          <p:cNvSpPr/>
          <p:nvPr/>
        </p:nvSpPr>
        <p:spPr>
          <a:xfrm>
            <a:off x="5647283" y="4013597"/>
            <a:ext cx="135063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Josh Hazlewood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5647283" y="4214217"/>
            <a:ext cx="103827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 — wickets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103901" y="2329718"/>
            <a:ext cx="1490663" cy="2209800"/>
          </a:xfrm>
          <a:prstGeom prst="roundRect">
            <a:avLst>
              <a:gd name="adj" fmla="val 9201"/>
            </a:avLst>
          </a:prstGeom>
          <a:ln w="9525">
            <a:solidFill>
              <a:srgbClr val="CDD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5406" y="2578298"/>
            <a:ext cx="571314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3170" dirty="0"/>
          </a:p>
        </p:txBody>
      </p:sp>
      <p:sp>
        <p:nvSpPr>
          <p:cNvPr id="28" name="Text 26"/>
          <p:cNvSpPr/>
          <p:nvPr/>
        </p:nvSpPr>
        <p:spPr>
          <a:xfrm>
            <a:off x="7295406" y="4004072"/>
            <a:ext cx="94172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Kishore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7295406" y="4204692"/>
            <a:ext cx="9471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 — wickets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548580" y="4708996"/>
            <a:ext cx="257205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BBC Sport / IPL 2025 statistics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58200" y="4710336"/>
            <a:ext cx="2355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48580" y="887685"/>
            <a:ext cx="434788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batting reset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548580" y="1284015"/>
            <a:ext cx="445825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season's tempo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548580" y="1882229"/>
            <a:ext cx="3840487" cy="355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0"/>
              </a:lnSpc>
              <a:buNone/>
            </a:pPr>
            <a:r>
              <a:rPr lang="en-US" sz="108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run environment moved forward through</a:t>
            </a:r>
            <a:endParaRPr lang="en-US" sz="1080" dirty="0"/>
          </a:p>
          <a:p>
            <a:pPr algn="l" indent="0" marL="0">
              <a:lnSpc>
                <a:spcPts val="1490"/>
              </a:lnSpc>
              <a:buNone/>
            </a:pPr>
            <a:r>
              <a:rPr lang="en-US" sz="108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volume, speed, and a deeper local bench.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937708" y="926604"/>
            <a:ext cx="3657600" cy="814388"/>
          </a:xfrm>
          <a:prstGeom prst="roundRect">
            <a:avLst>
              <a:gd name="adj" fmla="val 14596"/>
            </a:avLst>
          </a:prstGeom>
          <a:solidFill>
            <a:srgbClr val="E0E7ED"/>
          </a:solidFill>
          <a:ln/>
        </p:spPr>
      </p:sp>
      <p:sp>
        <p:nvSpPr>
          <p:cNvPr id="10" name="Text 8"/>
          <p:cNvSpPr/>
          <p:nvPr/>
        </p:nvSpPr>
        <p:spPr>
          <a:xfrm>
            <a:off x="4659079" y="1091282"/>
            <a:ext cx="196734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3100" b="1" spc="-18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16,000+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041200" y="1208187"/>
            <a:ext cx="133477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30" b="1" spc="66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BY INDIAN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7617083" y="1329035"/>
            <a:ext cx="75888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30" b="1" spc="66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937708" y="1866007"/>
            <a:ext cx="3657600" cy="814388"/>
          </a:xfrm>
          <a:prstGeom prst="roundRect">
            <a:avLst>
              <a:gd name="adj" fmla="val 14596"/>
            </a:avLst>
          </a:prstGeom>
          <a:solidFill>
            <a:srgbClr val="E1EDE4"/>
          </a:solidFill>
          <a:ln/>
        </p:spPr>
      </p:sp>
      <p:sp>
        <p:nvSpPr>
          <p:cNvPr id="14" name="Text 12"/>
          <p:cNvSpPr/>
          <p:nvPr/>
        </p:nvSpPr>
        <p:spPr>
          <a:xfrm>
            <a:off x="4838923" y="2030685"/>
            <a:ext cx="11880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3100" b="1" spc="-18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150+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7482713" y="2147590"/>
            <a:ext cx="89325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30" b="1" spc="66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7322999" y="2268438"/>
            <a:ext cx="105297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30" b="1" spc="66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STRIKE RATE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937708" y="2805410"/>
            <a:ext cx="3657600" cy="814388"/>
          </a:xfrm>
          <a:prstGeom prst="roundRect">
            <a:avLst>
              <a:gd name="adj" fmla="val 14596"/>
            </a:avLst>
          </a:prstGeom>
          <a:solidFill>
            <a:srgbClr val="F0E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157043" y="2970088"/>
            <a:ext cx="134763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86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29.76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7849419" y="3026569"/>
            <a:ext cx="74167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spc="66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7449964" y="3147417"/>
            <a:ext cx="126096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spc="66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IN AN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7670155" y="3268266"/>
            <a:ext cx="97471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spc="66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SEASON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937596" y="3790652"/>
            <a:ext cx="30298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Uncapped batters were a notable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937596" y="3960763"/>
            <a:ext cx="1551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2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of the surge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48580" y="4717256"/>
            <a:ext cx="240402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ESPNcricinfo season review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66237" y="4710336"/>
            <a:ext cx="2250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48580" y="887685"/>
            <a:ext cx="6165979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RCB's edge was repeatable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548580" y="1284015"/>
            <a:ext cx="1852322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</a:t>
            </a:r>
            <a:endParaRPr lang="en-US" sz="3060" dirty="0"/>
          </a:p>
        </p:txBody>
      </p:sp>
      <p:sp>
        <p:nvSpPr>
          <p:cNvPr id="8" name="Shape 6"/>
          <p:cNvSpPr/>
          <p:nvPr/>
        </p:nvSpPr>
        <p:spPr>
          <a:xfrm>
            <a:off x="547539" y="2078794"/>
            <a:ext cx="1385888" cy="1362075"/>
          </a:xfrm>
          <a:prstGeom prst="roundRect">
            <a:avLst>
              <a:gd name="adj" fmla="val 8727"/>
            </a:avLst>
          </a:prstGeom>
          <a:solidFill>
            <a:srgbClr val="E0E7ED"/>
          </a:solidFill>
          <a:ln/>
        </p:spPr>
      </p:sp>
      <p:sp>
        <p:nvSpPr>
          <p:cNvPr id="9" name="Text 7"/>
          <p:cNvSpPr/>
          <p:nvPr/>
        </p:nvSpPr>
        <p:spPr>
          <a:xfrm>
            <a:off x="713110" y="2295376"/>
            <a:ext cx="887358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50" b="1" spc="-177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657</a:t>
            </a:r>
            <a:endParaRPr lang="en-US" sz="2950" dirty="0"/>
          </a:p>
        </p:txBody>
      </p:sp>
      <p:sp>
        <p:nvSpPr>
          <p:cNvPr id="10" name="Text 8"/>
          <p:cNvSpPr/>
          <p:nvPr/>
        </p:nvSpPr>
        <p:spPr>
          <a:xfrm>
            <a:off x="713110" y="2877666"/>
            <a:ext cx="108335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Kohli supplied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110" y="3009081"/>
            <a:ext cx="11802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across the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110" y="3140497"/>
            <a:ext cx="77601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0182" y="2078794"/>
            <a:ext cx="1385888" cy="1362075"/>
          </a:xfrm>
          <a:prstGeom prst="roundRect">
            <a:avLst>
              <a:gd name="adj" fmla="val 8727"/>
            </a:avLst>
          </a:prstGeom>
          <a:solidFill>
            <a:srgbClr val="E1EDE4"/>
          </a:solidFill>
          <a:ln/>
        </p:spPr>
      </p:sp>
      <p:sp>
        <p:nvSpPr>
          <p:cNvPr id="14" name="Text 12"/>
          <p:cNvSpPr/>
          <p:nvPr/>
        </p:nvSpPr>
        <p:spPr>
          <a:xfrm>
            <a:off x="2215753" y="2295376"/>
            <a:ext cx="620264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50" b="1" spc="-177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2950" dirty="0"/>
          </a:p>
        </p:txBody>
      </p:sp>
      <p:sp>
        <p:nvSpPr>
          <p:cNvPr id="15" name="Text 13"/>
          <p:cNvSpPr/>
          <p:nvPr/>
        </p:nvSpPr>
        <p:spPr>
          <a:xfrm>
            <a:off x="2215753" y="2877666"/>
            <a:ext cx="135750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Hazlewood added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15753" y="3009081"/>
            <a:ext cx="126802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wickets from the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15753" y="3140497"/>
            <a:ext cx="75453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52825" y="2078794"/>
            <a:ext cx="1385888" cy="1362075"/>
          </a:xfrm>
          <a:prstGeom prst="roundRect">
            <a:avLst>
              <a:gd name="adj" fmla="val 8727"/>
            </a:avLst>
          </a:prstGeom>
          <a:solidFill>
            <a:srgbClr val="F0E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718396" y="2295376"/>
            <a:ext cx="500405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950" b="1" spc="-177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2950" dirty="0"/>
          </a:p>
        </p:txBody>
      </p:sp>
      <p:sp>
        <p:nvSpPr>
          <p:cNvPr id="20" name="Text 18"/>
          <p:cNvSpPr/>
          <p:nvPr/>
        </p:nvSpPr>
        <p:spPr>
          <a:xfrm>
            <a:off x="3718396" y="2877666"/>
            <a:ext cx="111391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Krunal Pandya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18396" y="3009081"/>
            <a:ext cx="90544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18396" y="3140497"/>
            <a:ext cx="61910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wickets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974" y="2078794"/>
            <a:ext cx="3290887" cy="1362075"/>
          </a:xfrm>
          <a:prstGeom prst="rect">
            <a:avLst/>
          </a:prstGeom>
          <a:ln/>
        </p:spPr>
      </p:sp>
      <p:sp>
        <p:nvSpPr>
          <p:cNvPr id="24" name="Text 22"/>
          <p:cNvSpPr/>
          <p:nvPr/>
        </p:nvSpPr>
        <p:spPr>
          <a:xfrm>
            <a:off x="5632921" y="2116410"/>
            <a:ext cx="279503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final, RCB defended a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5632921" y="2316361"/>
            <a:ext cx="37511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total instead of relying on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5632921" y="2516312"/>
            <a:ext cx="22405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match-winner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5632921" y="2926705"/>
            <a:ext cx="3824719" cy="46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3"/>
              </a:lnSpc>
              <a:buNone/>
            </a:pPr>
            <a:r>
              <a:rPr lang="en-US" sz="970" b="1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read: durable batting plus wicket-taking</a:t>
            </a:r>
            <a:endParaRPr lang="en-US" sz="970" dirty="0"/>
          </a:p>
          <a:p>
            <a:pPr algn="l" indent="0" marL="0">
              <a:lnSpc>
                <a:spcPts val="1263"/>
              </a:lnSpc>
              <a:buNone/>
            </a:pPr>
            <a:r>
              <a:rPr lang="en-US" sz="970" b="1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 travels better than peak performance</a:t>
            </a:r>
            <a:endParaRPr lang="en-US" sz="970" dirty="0"/>
          </a:p>
          <a:p>
            <a:pPr algn="l" indent="0" marL="0">
              <a:lnSpc>
                <a:spcPts val="1263"/>
              </a:lnSpc>
              <a:buNone/>
            </a:pPr>
            <a:r>
              <a:rPr lang="en-US" sz="970" b="1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alone.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548580" y="3815507"/>
            <a:ext cx="340864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35"/>
              </a:spcBef>
              <a:buNone/>
            </a:pPr>
            <a:r>
              <a:rPr lang="en-US" sz="83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ESPNcricinfo IPL 2025 statistics; BBC Sport</a:t>
            </a:r>
            <a:endParaRPr lang="en-US" sz="83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974" y="2078794"/>
            <a:ext cx="3290887" cy="1362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58349" y="4710336"/>
            <a:ext cx="23534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48580" y="887685"/>
            <a:ext cx="929410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season says about winning T20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548580" y="1284015"/>
            <a:ext cx="1604866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60" b="1" spc="-168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cricket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548580" y="2087017"/>
            <a:ext cx="56908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740" dirty="0"/>
          </a:p>
        </p:txBody>
      </p:sp>
      <p:sp>
        <p:nvSpPr>
          <p:cNvPr id="9" name="Text 7"/>
          <p:cNvSpPr/>
          <p:nvPr/>
        </p:nvSpPr>
        <p:spPr>
          <a:xfrm>
            <a:off x="1106909" y="2125117"/>
            <a:ext cx="252726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 matters: sustained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106909" y="2313905"/>
            <a:ext cx="273370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beats one-off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1106909" y="2502694"/>
            <a:ext cx="67182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peaks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4891980" y="2087017"/>
            <a:ext cx="65770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740" dirty="0"/>
          </a:p>
        </p:txBody>
      </p:sp>
      <p:sp>
        <p:nvSpPr>
          <p:cNvPr id="13" name="Text 11"/>
          <p:cNvSpPr/>
          <p:nvPr/>
        </p:nvSpPr>
        <p:spPr>
          <a:xfrm>
            <a:off x="5518472" y="2125117"/>
            <a:ext cx="293037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finishes reward teams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5518472" y="2313905"/>
            <a:ext cx="282918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options across phases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548580" y="2910557"/>
            <a:ext cx="66631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740" dirty="0"/>
          </a:p>
        </p:txBody>
      </p:sp>
      <p:sp>
        <p:nvSpPr>
          <p:cNvPr id="16" name="Text 14"/>
          <p:cNvSpPr/>
          <p:nvPr/>
        </p:nvSpPr>
        <p:spPr>
          <a:xfrm>
            <a:off x="1181695" y="2948657"/>
            <a:ext cx="249476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Bowling depth becomes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1181695" y="3137446"/>
            <a:ext cx="325957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decisive when the chase enters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181695" y="3326234"/>
            <a:ext cx="141990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 final overs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4891980" y="2910557"/>
            <a:ext cx="680628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B2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740" dirty="0"/>
          </a:p>
        </p:txBody>
      </p:sp>
      <p:sp>
        <p:nvSpPr>
          <p:cNvPr id="20" name="Text 18"/>
          <p:cNvSpPr/>
          <p:nvPr/>
        </p:nvSpPr>
        <p:spPr>
          <a:xfrm>
            <a:off x="5536109" y="2948657"/>
            <a:ext cx="263696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modern advantage is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5536109" y="3137446"/>
            <a:ext cx="270062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flexibility — Indian batting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5536109" y="3326234"/>
            <a:ext cx="259420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aggression supported by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5536109" y="3515023"/>
            <a:ext cx="210529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varied bowling roles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548097" y="4119451"/>
            <a:ext cx="1738312" cy="19050"/>
          </a:xfrm>
          <a:prstGeom prst="rect">
            <a:avLst/>
          </a:prstGeom>
          <a:solidFill>
            <a:srgbClr val="1A1A2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97135"/>
            <a:ext cx="1161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ANALYSIS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330753" y="297135"/>
            <a:ext cx="17012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SEASON REVIEW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8458200" y="4710336"/>
            <a:ext cx="2355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630189"/>
            <a:ext cx="8048625" cy="2500313"/>
          </a:xfrm>
          <a:prstGeom prst="roundRect">
            <a:avLst>
              <a:gd name="adj" fmla="val 7314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54305" dist="72009" dir="54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161" y="2046163"/>
            <a:ext cx="4038414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90" b="1" spc="-233" kern="0" dirty="0">
                <a:solidFill>
                  <a:srgbClr val="F0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takeaway</a:t>
            </a:r>
            <a:endParaRPr lang="en-US" sz="3890" dirty="0"/>
          </a:p>
        </p:txBody>
      </p:sp>
      <p:sp>
        <p:nvSpPr>
          <p:cNvPr id="8" name="Text 6"/>
          <p:cNvSpPr/>
          <p:nvPr/>
        </p:nvSpPr>
        <p:spPr>
          <a:xfrm>
            <a:off x="1097161" y="2812628"/>
            <a:ext cx="5860093" cy="843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60" dirty="0">
                <a:solidFill>
                  <a:srgbClr val="D6D8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 did not win because the season had one dominant</a:t>
            </a:r>
            <a:endParaRPr lang="en-US" sz="126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60" dirty="0">
                <a:solidFill>
                  <a:srgbClr val="D6D8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number. It won by turning enough good phases into a</a:t>
            </a:r>
            <a:endParaRPr lang="en-US" sz="126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60" dirty="0">
                <a:solidFill>
                  <a:srgbClr val="D6D8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campaign — then holding its nerve when six runs</a:t>
            </a:r>
            <a:endParaRPr lang="en-US" sz="126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60" dirty="0">
                <a:solidFill>
                  <a:srgbClr val="D6D8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separated champion from runner-up.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399981" y="2313608"/>
            <a:ext cx="1647825" cy="1133475"/>
          </a:xfrm>
          <a:prstGeom prst="roundRect">
            <a:avLst>
              <a:gd name="adj" fmla="val 10487"/>
            </a:avLst>
          </a:prstGeom>
          <a:solidFill>
            <a:srgbClr val="F0E4D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784" y="2388319"/>
            <a:ext cx="120050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95" kern="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MARGIN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6583784" y="2509689"/>
            <a:ext cx="506596" cy="719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4680" b="1" spc="-374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4680" dirty="0"/>
          </a:p>
        </p:txBody>
      </p:sp>
      <p:sp>
        <p:nvSpPr>
          <p:cNvPr id="12" name="Text 10"/>
          <p:cNvSpPr/>
          <p:nvPr/>
        </p:nvSpPr>
        <p:spPr>
          <a:xfrm>
            <a:off x="6583784" y="3236416"/>
            <a:ext cx="37271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6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48580" y="4724028"/>
            <a:ext cx="838950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5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IPLT20 final match report; BBC Sport IPL 2025 results and cap standings; ESPNcricinfo IPL 2025 statistics and season review.</a:t>
            </a:r>
            <a:endParaRPr lang="en-US" sz="7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2026-08-26T08:14:49Z</dcterms:created>
  <dcterms:modified xsi:type="dcterms:W3CDTF">2026-08-26T08:14:49Z</dcterms:modified>
</cp:coreProperties>
</file>